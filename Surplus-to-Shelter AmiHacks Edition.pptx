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JetBrains Mono"/>
      <p:bold r:id="rId12"/>
    </p:embeddedFont>
    <p:embeddedFont>
      <p:font typeface="Plus Jakarta Sans"/>
      <p:bold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B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973609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446240"/>
            <a:ext cx="2209800" cy="400050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971800" y="4446240"/>
            <a:ext cx="1676400" cy="400050"/>
          </a:xfrm>
          <a:prstGeom prst="roundRect">
            <a:avLst>
              <a:gd name="adj" fmla="val 23809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2659409"/>
            <a:ext cx="11582400" cy="700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520"/>
              </a:lnSpc>
            </a:pPr>
            <a:r>
              <a:rPr sz="4800" b="1" i="0" u="none">
                <a:solidFill>
                  <a:srgbClr val="0F172A"/>
                </a:solidFill>
                <a:latin typeface="Plus Jakarta Sans"/>
              </a:rPr>
              <a:t>Turning surplus into smiles.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512790"/>
            <a:ext cx="69532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1E293B"/>
                </a:solidFill>
                <a:latin typeface="Plus Jakarta Sans"/>
              </a:rPr>
              <a:t>Good food shouldn't go to waste. Let's rescue it, together. Bridging commercial food surplus and community shelters in real-time.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725" y="1973609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FFFFFF"/>
                </a:solidFill>
                <a:latin typeface="Plus Jakarta Sans"/>
              </a:rPr>
              <a:t>FR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2106959"/>
            <a:ext cx="497681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JetBrains Mono"/>
              </a:rPr>
              <a:t>AMIHACKS • ZERO HUNGER RESCUE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4560540"/>
            <a:ext cx="1924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JetBrains Mono"/>
              </a:rPr>
              <a:t>Submitted by: CtrlElites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2300" y="4560540"/>
            <a:ext cx="1390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JetBrains Mono"/>
              </a:rPr>
              <a:t>AmiHacks Finalist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B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819775"/>
            <a:ext cx="10972800" cy="5048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547044"/>
            <a:ext cx="3505200" cy="1925687"/>
          </a:xfrm>
          <a:prstGeom prst="roundRect">
            <a:avLst>
              <a:gd name="adj" fmla="val 79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547044"/>
            <a:ext cx="3505200" cy="1925687"/>
          </a:xfrm>
          <a:prstGeom prst="roundRect">
            <a:avLst>
              <a:gd name="adj" fmla="val 79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547044"/>
            <a:ext cx="3505200" cy="1925687"/>
          </a:xfrm>
          <a:prstGeom prst="roundRect">
            <a:avLst>
              <a:gd name="adj" fmla="val 79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5819775"/>
            <a:ext cx="57150" cy="50482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51844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2851844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2851844"/>
            <a:ext cx="28575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JetBrains Mono"/>
              </a:rPr>
              <a:t>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293B"/>
                </a:solidFill>
                <a:latin typeface="Plus Jakarta Sans"/>
              </a:rPr>
              <a:t>The Surplus &amp; Discard Paradox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5972175"/>
            <a:ext cx="11334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Core Consequence: Avoidable food waste and diminished utilization of vital nutritional resources.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251894"/>
            <a:ext cx="390048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Plus Jakarta Sans"/>
              </a:rPr>
              <a:t>The Surplus Dilemma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3566219"/>
            <a:ext cx="306705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Massive generation of edible surplus food across commercial and institutional food service sectors.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3251894"/>
            <a:ext cx="390048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Plus Jakarta Sans"/>
              </a:rPr>
              <a:t>The Discard Paradox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0100" y="3566219"/>
            <a:ext cx="306705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Safe consumption food discarded due to absence of rapid redistribution channels.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3900" y="3251894"/>
            <a:ext cx="38481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Plus Jakarta Sans"/>
              </a:rPr>
              <a:t>Traditional Inefficiencies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3900" y="3566219"/>
            <a:ext cx="306705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Heavy reliance on manual coordination methods like phone calls and static spreadsheets.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B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33650"/>
            <a:ext cx="5181600" cy="1152525"/>
          </a:xfrm>
          <a:prstGeom prst="roundRect">
            <a:avLst>
              <a:gd name="adj" fmla="val 132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838575"/>
            <a:ext cx="5181600" cy="1152525"/>
          </a:xfrm>
          <a:prstGeom prst="roundRect">
            <a:avLst>
              <a:gd name="adj" fmla="val 132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352675"/>
            <a:ext cx="5486400" cy="2819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505075"/>
            <a:ext cx="5181600" cy="2476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800350"/>
            <a:ext cx="219075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105275"/>
            <a:ext cx="171450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JetBrains Mono"/>
              </a:rPr>
              <a:t>SYSTEM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293B"/>
                </a:solidFill>
                <a:latin typeface="Plus Jakarta Sans"/>
              </a:rPr>
              <a:t>Multi-Actor Platform &amp; Intelligent Intake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762250"/>
            <a:ext cx="6200775" cy="219075"/>
          </a:xfrm>
          <a:prstGeom prst="rect">
            <a:avLst/>
          </a:prstGeom>
          <a:noFill/>
        </p:spPr>
        <p:txBody>
          <a:bodyPr wrap="none" lIns="295275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Integrated Ecosystem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057525"/>
            <a:ext cx="48196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Bridging Food Donors, Recipient Shelters (NGOs), and Volunteer Drivers into a unified digital workspace.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067175"/>
            <a:ext cx="6200775" cy="21907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Compatibility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362450"/>
            <a:ext cx="48196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Computes dynamic match scores evaluating distance, recipient storage limits, dietary compliance, and perishability urgency.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8FA324-5ED4-D032-F7F6-1C26105BE0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998" y="2352674"/>
            <a:ext cx="5486402" cy="2819400"/>
          </a:xfrm>
          <a:prstGeom prst="roundRect">
            <a:avLst>
              <a:gd name="adj" fmla="val 4461"/>
            </a:avLst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B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981450"/>
            <a:ext cx="10972800" cy="923925"/>
          </a:xfrm>
          <a:prstGeom prst="roundRect">
            <a:avLst>
              <a:gd name="adj" fmla="val 164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5057775"/>
            <a:ext cx="5391150" cy="1076325"/>
          </a:xfrm>
          <a:prstGeom prst="roundRect">
            <a:avLst>
              <a:gd name="adj" fmla="val 141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5057775"/>
            <a:ext cx="5391150" cy="1076325"/>
          </a:xfrm>
          <a:prstGeom prst="roundRect">
            <a:avLst>
              <a:gd name="adj" fmla="val 141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4229100"/>
            <a:ext cx="171450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5305425"/>
            <a:ext cx="1714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5305425"/>
            <a:ext cx="171450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JetBrains Mono"/>
              </a:rPr>
              <a:t>LOGISTICS &amp;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293B"/>
                </a:solidFill>
                <a:latin typeface="Plus Jakarta Sans"/>
              </a:rPr>
              <a:t>Event-Driven Lifecycle &amp; Trust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4191000"/>
            <a:ext cx="11315700" cy="21907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Transparent 8-Stage Lifecycle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505325"/>
            <a:ext cx="113157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DC2626"/>
                </a:solidFill>
                <a:latin typeface="JetBrains Mono"/>
              </a:rPr>
              <a:t>Posted → Matched → Driver Assigned → En Route → Picked Up → In Transit → Delivered → Verified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5267325"/>
            <a:ext cx="6525815" cy="21907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Real-Time Streaming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5562600"/>
            <a:ext cx="50673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Socket.IO &amp; Leaflet/OSRM integration for live driver location tracking and instant status notifications.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267325"/>
            <a:ext cx="5791200" cy="21907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Accountability &amp; OTP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562600"/>
            <a:ext cx="50673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Secure organization credentials and OTP-based digital confirmation for safe handovers.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B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33650"/>
            <a:ext cx="5181600" cy="1152525"/>
          </a:xfrm>
          <a:prstGeom prst="roundRect">
            <a:avLst>
              <a:gd name="adj" fmla="val 132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838575"/>
            <a:ext cx="5181600" cy="1152525"/>
          </a:xfrm>
          <a:prstGeom prst="roundRect">
            <a:avLst>
              <a:gd name="adj" fmla="val 132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352675"/>
            <a:ext cx="5486400" cy="2819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505075"/>
            <a:ext cx="5181600" cy="2476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JetBrains Mono"/>
              </a:rPr>
              <a:t>CORE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293B"/>
                </a:solidFill>
                <a:latin typeface="Plus Jakarta Sans"/>
              </a:rPr>
              <a:t>Expiry Assessment &amp; Smart Dispatch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762250"/>
            <a:ext cx="62007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Expiry &amp; Urgency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057525"/>
            <a:ext cx="48196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Classifies donations into LOW, MEDIUM, HIGH, and CRITICAL priorities, triggering automated escalations.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067175"/>
            <a:ext cx="62007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Smart Dispatch &amp; 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362450"/>
            <a:ext cx="48196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Pairs donations with drivers by evaluating vehicle capacity, active job loads, and pickup feasibility via OpenStreetMap.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53BB9B3-6DB1-7A03-45F4-8D8C653194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352675"/>
            <a:ext cx="5486400" cy="2819400"/>
          </a:xfrm>
          <a:prstGeom prst="roundRect">
            <a:avLst>
              <a:gd name="adj" fmla="val 6205"/>
            </a:avLst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B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86100"/>
            <a:ext cx="3505200" cy="1352550"/>
          </a:xfrm>
          <a:prstGeom prst="roundRect">
            <a:avLst>
              <a:gd name="adj" fmla="val 112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086100"/>
            <a:ext cx="3505200" cy="1352550"/>
          </a:xfrm>
          <a:prstGeom prst="roundRect">
            <a:avLst>
              <a:gd name="adj" fmla="val 112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86100"/>
            <a:ext cx="3505200" cy="1352550"/>
          </a:xfrm>
          <a:prstGeom prst="roundRect">
            <a:avLst>
              <a:gd name="adj" fmla="val 112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52800"/>
            <a:ext cx="152400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352800"/>
            <a:ext cx="1714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3352800"/>
            <a:ext cx="133350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JetBrains Mono"/>
              </a:rPr>
              <a:t>ADVANCED MECHANICS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293B"/>
                </a:solidFill>
                <a:latin typeface="Plus Jakarta Sans"/>
              </a:rPr>
              <a:t>Live Tracking &amp; Failure Handling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314700"/>
            <a:ext cx="4000500" cy="219075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Live GPS Streaming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609975"/>
            <a:ext cx="31432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Drivers broadcast real-time coordinates via dedicated socket rooms for live map tracking on all dashboards.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314700"/>
            <a:ext cx="4000500" cy="21907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Automated Re-Matching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609975"/>
            <a:ext cx="31432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Built-in fallback workflows automatically re-queue and re-match donations if an NGO rejects or driver cancels.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5800" y="3314700"/>
            <a:ext cx="3886200" cy="219075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Role-Based Dashboards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5800" y="3609975"/>
            <a:ext cx="31432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Customized operational views for Donors, NGOs, Drivers, and Admins secured via JWT endpoints.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B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428750"/>
            <a:ext cx="5372100" cy="466725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1428750"/>
            <a:ext cx="5372100" cy="466725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581150"/>
            <a:ext cx="5067300" cy="2000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700" y="1581150"/>
            <a:ext cx="5067300" cy="2000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JetBrains Mono"/>
              </a:rPr>
              <a:t>PLATFORM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293B"/>
                </a:solidFill>
                <a:latin typeface="Plus Jakarta Sans"/>
              </a:rPr>
              <a:t>Operational &amp; Admin Dashboards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587" y="3733800"/>
            <a:ext cx="63341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E293B"/>
                </a:solidFill>
                <a:latin typeface="Plus Jakarta Sans"/>
              </a:rPr>
              <a:t>Donor Rescue &amp; Fleet Dispatch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29287" y="3733800"/>
            <a:ext cx="63341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E293B"/>
                </a:solidFill>
                <a:latin typeface="Plus Jakarta Sans"/>
              </a:rPr>
              <a:t>Admin Command &amp; Shelter Intake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EC42F25-D5B7-A833-10D5-487F64231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1581150"/>
            <a:ext cx="4739149" cy="2000250"/>
          </a:xfrm>
          <a:prstGeom prst="roundRect">
            <a:avLst>
              <a:gd name="adj" fmla="val 11260"/>
            </a:avLst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95E43A2-3175-A480-9F0B-76064F6CC5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8452" y="1595437"/>
            <a:ext cx="4739149" cy="1971675"/>
          </a:xfrm>
          <a:prstGeom prst="roundRect">
            <a:avLst>
              <a:gd name="adj" fmla="val 9453"/>
            </a:avLst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B86A399-7FFA-8868-350F-4D811C9493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074" y="3914775"/>
            <a:ext cx="4739149" cy="2000250"/>
          </a:xfrm>
          <a:prstGeom prst="roundRect">
            <a:avLst>
              <a:gd name="adj" fmla="val 6000"/>
            </a:avLst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01BC2DE-D537-29E5-A13C-13F1A34717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6776" y="3914774"/>
            <a:ext cx="4750825" cy="2000251"/>
          </a:xfrm>
          <a:prstGeom prst="roundRect">
            <a:avLst>
              <a:gd name="adj" fmla="val 6508"/>
            </a:avLst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B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33650"/>
            <a:ext cx="5181600" cy="1152525"/>
          </a:xfrm>
          <a:prstGeom prst="roundRect">
            <a:avLst>
              <a:gd name="adj" fmla="val 132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838575"/>
            <a:ext cx="5181600" cy="1152525"/>
          </a:xfrm>
          <a:prstGeom prst="roundRect">
            <a:avLst>
              <a:gd name="adj" fmla="val 132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352675"/>
            <a:ext cx="5486400" cy="2819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505075"/>
            <a:ext cx="5181600" cy="2476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JetBrains Mono"/>
              </a:rPr>
              <a:t>IMPACT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293B"/>
                </a:solidFill>
                <a:latin typeface="Plus Jakarta Sans"/>
              </a:rPr>
              <a:t>Quantitative Monitoring &amp; Telemetry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762250"/>
            <a:ext cx="62007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Impact Assessment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057525"/>
            <a:ext cx="48196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Tracks total food rescued (kg), estimated meals supported, active user counts, and CO2 diversion metrics.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067175"/>
            <a:ext cx="62007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Environmental Conversion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362450"/>
            <a:ext cx="48196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Documented conversion models (e.g., 1kg food = 2.5kg CO2 avoided) to quantify direct landfill diversion impact.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08D1029-AEA3-1AB1-7DAA-0EEC7860F8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352675"/>
            <a:ext cx="5486400" cy="2819400"/>
          </a:xfrm>
          <a:prstGeom prst="roundRect">
            <a:avLst>
              <a:gd name="adj" fmla="val 8646"/>
            </a:avLst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B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019550"/>
            <a:ext cx="3555950" cy="981075"/>
          </a:xfrm>
          <a:prstGeom prst="roundRect">
            <a:avLst>
              <a:gd name="adj" fmla="val 155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17950" y="4019550"/>
            <a:ext cx="3555950" cy="981075"/>
          </a:xfrm>
          <a:prstGeom prst="roundRect">
            <a:avLst>
              <a:gd name="adj" fmla="val 155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26300" y="4019550"/>
            <a:ext cx="3556099" cy="981075"/>
          </a:xfrm>
          <a:prstGeom prst="roundRect">
            <a:avLst>
              <a:gd name="adj" fmla="val 155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5153025"/>
            <a:ext cx="3555950" cy="981075"/>
          </a:xfrm>
          <a:prstGeom prst="roundRect">
            <a:avLst>
              <a:gd name="adj" fmla="val 155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17950" y="5153025"/>
            <a:ext cx="3555950" cy="981075"/>
          </a:xfrm>
          <a:prstGeom prst="roundRect">
            <a:avLst>
              <a:gd name="adj" fmla="val 155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26300" y="5153025"/>
            <a:ext cx="3556099" cy="981075"/>
          </a:xfrm>
          <a:prstGeom prst="roundRect">
            <a:avLst>
              <a:gd name="adj" fmla="val 15533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JetBrains Mono"/>
              </a:rPr>
              <a:t>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293B"/>
                </a:solidFill>
                <a:latin typeface="Plus Jakarta Sans"/>
              </a:rPr>
              <a:t>Future Scope &amp; Next-Gen Innovations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4210050"/>
            <a:ext cx="416712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Driven Demand Forecasting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4467225"/>
            <a:ext cx="32702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Leverage historical trends to predict surplus volumes &amp; bottleneck hours.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8450" y="4210050"/>
            <a:ext cx="416712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Predictive Driver Positioning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8450" y="4467225"/>
            <a:ext cx="32702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Recommend staging zones in high-surplus districts to minimize response 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6800" y="4210050"/>
            <a:ext cx="397519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Image Food Classification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6800" y="4467225"/>
            <a:ext cx="3270349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Computer vision models for automated category &amp; volume bracket detection.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5343525"/>
            <a:ext cx="416712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Multi-Stop Routing (VRP)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5600700"/>
            <a:ext cx="32702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Upgrade to route solvers (Google OR-Tools) for multi-donor pickups.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8450" y="5343525"/>
            <a:ext cx="416712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IoT &amp; Cold-Chain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8450" y="5600700"/>
            <a:ext cx="32702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Real-time temperature telemetry for strict food safety compliance.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4257" y="5438775"/>
            <a:ext cx="148018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Scale &amp;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5569" y="5676900"/>
            <a:ext cx="33575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FEE2E2"/>
                </a:solidFill>
                <a:latin typeface="Plus Jakarta Sans"/>
              </a:rPr>
              <a:t>Expanding zero-hunger rescue nationwide.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B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210050" y="4452937"/>
            <a:ext cx="3771900" cy="466725"/>
          </a:xfrm>
          <a:prstGeom prst="roundRect">
            <a:avLst>
              <a:gd name="adj" fmla="val 244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100" y="1976437"/>
            <a:ext cx="685800" cy="685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0" y="2166937"/>
            <a:ext cx="3810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2050" y="2890837"/>
            <a:ext cx="3187898" cy="628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0F172A"/>
                </a:solidFill>
                <a:latin typeface="Plus Jakarta Sans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4125" y="3671887"/>
            <a:ext cx="71437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E293B"/>
                </a:solidFill>
                <a:latin typeface="Plus Jakarta Sans"/>
              </a:rPr>
              <a:t>Empowering communities, eliminating food waste, and nourishing the future with Surplus-to-Shelter.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5262" y="4586287"/>
            <a:ext cx="41814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DC2626"/>
                </a:solidFill>
                <a:latin typeface="JetBrains Mono"/>
              </a:rPr>
              <a:t>CtrlElites • AmiHacks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509</Words>
  <Application>Microsoft Office PowerPoint</Application>
  <PresentationFormat>Widescreen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Plus Jakarta Sans</vt:lpstr>
      <vt:lpstr>Calibri</vt:lpstr>
      <vt:lpstr>JetBrains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hp laptop</cp:lastModifiedBy>
  <cp:revision>2</cp:revision>
  <dcterms:created xsi:type="dcterms:W3CDTF">2013-01-27T09:14:16Z</dcterms:created>
  <dcterms:modified xsi:type="dcterms:W3CDTF">2026-09-25T03:21:56Z</dcterms:modified>
  <cp:category/>
</cp:coreProperties>
</file>